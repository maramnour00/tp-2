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media/image1.jpeg" ContentType="image/jpeg"/>
  <Override PartName="/ppt/media/image2.jpe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2.xml" ContentType="application/vnd.openxmlformats-officedocument.presentationml.notesSlide+xml"/>
  <Override PartName="/ppt/notesSlides/_rels/notesSlide2.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ptos"/>
              </a:rPr>
              <a:t>Click to move the slide</a:t>
            </a:r>
            <a:endParaRPr b="0" lang="en-US" sz="1800" strike="noStrike" u="none">
              <a:solidFill>
                <a:schemeClr val="dk1"/>
              </a:solidFill>
              <a:effectLst/>
              <a:uFillTx/>
              <a:latin typeface="Aptos"/>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GB" sz="2000" strike="noStrike" u="none">
                <a:solidFill>
                  <a:srgbClr val="000000"/>
                </a:solidFill>
                <a:effectLst/>
                <a:uFillTx/>
                <a:latin typeface="Arial"/>
              </a:rPr>
              <a:t>Click to edit the notes format</a:t>
            </a:r>
            <a:endParaRPr b="0" lang="en-GB" sz="2000" strike="noStrike" u="non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trike="noStrike" u="none">
                <a:solidFill>
                  <a:srgbClr val="000000"/>
                </a:solidFill>
                <a:effectLst/>
                <a:uFillTx/>
                <a:latin typeface="Times New Roman"/>
              </a:rPr>
              <a:t>&lt;header&gt;</a:t>
            </a:r>
            <a:endParaRPr b="0" lang="en-GB" sz="1400" strike="noStrike" u="non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GB" sz="1400" strike="noStrike" u="none">
                <a:solidFill>
                  <a:srgbClr val="000000"/>
                </a:solidFill>
                <a:effectLst/>
                <a:uFillTx/>
                <a:latin typeface="Times New Roman"/>
              </a:defRPr>
            </a:lvl1pPr>
          </a:lstStyle>
          <a:p>
            <a:pPr indent="0" algn="r">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trike="noStrike" u="none">
                <a:solidFill>
                  <a:srgbClr val="000000"/>
                </a:solidFill>
                <a:effectLst/>
                <a:uFillTx/>
                <a:latin typeface="Times New Roman"/>
              </a:defRPr>
            </a:lvl1pPr>
          </a:lstStyle>
          <a:p>
            <a:pPr indent="0" algn="r">
              <a:buNone/>
            </a:pPr>
            <a:fld id="{A1FC53DB-E49E-48EF-870B-E108F2079986}" type="slidenum">
              <a:rPr b="0" lang="en-GB" sz="1400" strike="noStrike" u="none">
                <a:solidFill>
                  <a:srgbClr val="000000"/>
                </a:solidFill>
                <a:effectLst/>
                <a:uFillTx/>
                <a:latin typeface="Times New Roman"/>
              </a:rPr>
              <a:t>&lt;number&gt;</a:t>
            </a:fld>
            <a:endParaRPr b="0" lang="en-GB"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685800" y="1143000"/>
            <a:ext cx="5486040" cy="3085920"/>
          </a:xfrm>
          <a:prstGeom prst="rect">
            <a:avLst/>
          </a:prstGeom>
          <a:ln w="0">
            <a:noFill/>
          </a:ln>
        </p:spPr>
      </p:sp>
      <p:sp>
        <p:nvSpPr>
          <p:cNvPr id="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8"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trike="noStrike" u="none">
                <a:solidFill>
                  <a:srgbClr val="000000"/>
                </a:solidFill>
                <a:effectLst/>
                <a:uFillTx/>
                <a:latin typeface="Times New Roman"/>
              </a:defRPr>
            </a:lvl1pPr>
          </a:lstStyle>
          <a:p>
            <a:pPr indent="0" algn="r">
              <a:lnSpc>
                <a:spcPct val="100000"/>
              </a:lnSpc>
              <a:buNone/>
            </a:pPr>
            <a:fld id="{28F19C73-246C-42FC-A9FE-325446DE7A41}" type="slidenum">
              <a:rPr b="0" lang="en-GB"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trike="noStrike" u="none">
                <a:solidFill>
                  <a:schemeClr val="dk1"/>
                </a:solidFill>
                <a:effectLst/>
                <a:uFillTx/>
                <a:latin typeface="Aptos Display"/>
              </a:rPr>
              <a:t>Click to edit Master title style</a:t>
            </a:r>
            <a:endParaRPr b="0" lang="en-US" sz="6000" strike="noStrike" u="none">
              <a:solidFill>
                <a:schemeClr val="dk1"/>
              </a:solidFill>
              <a:effectLst/>
              <a:uFillTx/>
              <a:latin typeface="Aptos"/>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DDCC2A11-FF4F-4997-8149-A856C6230A26}"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Aptos"/>
              </a:rPr>
              <a:t>Click to edit the outline text format</a:t>
            </a:r>
            <a:endParaRPr b="0" lang="en-US"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Aptos"/>
              </a:rPr>
              <a:t>Second Outline Level</a:t>
            </a:r>
            <a:endParaRPr b="0" lang="en-US"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Aptos"/>
              </a:rPr>
              <a:t>Third Outline Level</a:t>
            </a:r>
            <a:endParaRPr b="0" lang="en-US"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Aptos"/>
              </a:rPr>
              <a:t>Fourth Outline Level</a:t>
            </a:r>
            <a:endParaRPr b="0" lang="en-US"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1AA53775-72A3-4309-B9E5-E92B9FC393D7}"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7B4C19BB-76F7-4DB2-8535-D7AAF7C7D214}"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936E763C-4FD4-49B9-9C47-7837CE52BF25}"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trike="noStrike" u="none">
                <a:solidFill>
                  <a:schemeClr val="dk1"/>
                </a:solidFill>
                <a:effectLst/>
                <a:uFillTx/>
                <a:latin typeface="Aptos Display"/>
              </a:rPr>
              <a:t>Click to edit Master title style</a:t>
            </a:r>
            <a:endParaRPr b="0" lang="en-US" sz="6000" strike="noStrike" u="none">
              <a:solidFill>
                <a:schemeClr val="dk1"/>
              </a:solidFill>
              <a:effectLst/>
              <a:uFillTx/>
              <a:latin typeface="Aptos"/>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82000"/>
                  </a:schemeClr>
                </a:solidFill>
                <a:effectLst/>
                <a:uFillTx/>
                <a:latin typeface="Aptos"/>
              </a:rPr>
              <a:t>Click to edit Master text styles</a:t>
            </a:r>
            <a:endParaRPr b="0" lang="en-US" sz="2400" strike="noStrike" u="none">
              <a:solidFill>
                <a:schemeClr val="dk1"/>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7E4EE21C-E932-4465-A803-68C49C8CF413}"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75710F01-750B-4866-B2D2-78F60402445E}"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Aptos"/>
              </a:rPr>
              <a:t>Click to edit Master text styles</a:t>
            </a:r>
            <a:endParaRPr b="0" lang="en-US" sz="2400" strike="noStrike" u="non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Aptos"/>
              </a:rPr>
              <a:t>Click to edit Master text styles</a:t>
            </a:r>
            <a:endParaRPr b="0" lang="en-US" sz="2400" strike="noStrike" u="non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A5E5219C-2202-4013-A358-DE077738C729}"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828E7A92-11B0-40BF-A601-29BDBE1D4DBB}"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321A9287-21FF-4F10-A942-7AE162F352C2}"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dk1"/>
                </a:solidFill>
                <a:effectLst/>
                <a:uFillTx/>
                <a:latin typeface="Aptos Display"/>
              </a:rPr>
              <a:t>Click to edit Master title style</a:t>
            </a:r>
            <a:endParaRPr b="0" lang="en-US" sz="3200" strike="noStrike" u="none">
              <a:solidFill>
                <a:schemeClr val="dk1"/>
              </a:solidFill>
              <a:effectLst/>
              <a:uFillTx/>
              <a:latin typeface="Aptos"/>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Aptos"/>
              </a:rPr>
              <a:t>Click to edit Master text styles</a:t>
            </a:r>
            <a:endParaRPr b="0" lang="en-US" sz="32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effectLst/>
                <a:uFillTx/>
                <a:latin typeface="Aptos"/>
              </a:rPr>
              <a:t>Second level</a:t>
            </a:r>
            <a:endParaRPr b="0" lang="en-US" sz="28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Aptos"/>
              </a:rPr>
              <a:t>Third level</a:t>
            </a:r>
            <a:endParaRPr b="0" lang="en-US" sz="24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Fourth level</a:t>
            </a:r>
            <a:endParaRPr b="0" lang="en-US" sz="20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Aptos"/>
              </a:rPr>
              <a:t>Fifth level</a:t>
            </a:r>
            <a:endParaRPr b="0" lang="en-US" sz="2000" strike="noStrike" u="non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Aptos"/>
              </a:rPr>
              <a:t>Click to edit Master text styles</a:t>
            </a:r>
            <a:endParaRPr b="0" lang="en-US" sz="1600" strike="noStrike" u="non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4A52B822-01EA-4D99-8510-90DD4DAF5D44}"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dk1"/>
                </a:solidFill>
                <a:effectLst/>
                <a:uFillTx/>
                <a:latin typeface="Aptos Display"/>
              </a:rPr>
              <a:t>Click to edit Master title style</a:t>
            </a:r>
            <a:endParaRPr b="0" lang="en-US" sz="3200" strike="noStrike" u="none">
              <a:solidFill>
                <a:schemeClr val="dk1"/>
              </a:solidFill>
              <a:effectLst/>
              <a:uFillTx/>
              <a:latin typeface="Aptos"/>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effectLst/>
                <a:uFillTx/>
                <a:latin typeface="Aptos"/>
              </a:rPr>
              <a:t>Second Outline Level</a:t>
            </a:r>
            <a:endParaRPr b="0" lang="en-US" sz="32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effectLst/>
                <a:uFillTx/>
                <a:latin typeface="Aptos"/>
              </a:rPr>
              <a:t>Third Outline Level</a:t>
            </a:r>
            <a:endParaRPr b="0" lang="en-US" sz="32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effectLst/>
                <a:uFillTx/>
                <a:latin typeface="Aptos"/>
              </a:rPr>
              <a:t>Fourth Outline Level</a:t>
            </a:r>
            <a:endParaRPr b="0" lang="en-US" sz="32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Aptos"/>
              </a:rPr>
              <a:t>Fifth Outline Level</a:t>
            </a:r>
            <a:endParaRPr b="0" lang="en-US" sz="32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Aptos"/>
              </a:rPr>
              <a:t>Sixth Outline Level</a:t>
            </a:r>
            <a:endParaRPr b="0" lang="en-US" sz="32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Aptos"/>
              </a:rPr>
              <a:t>Seventh Outline Level</a:t>
            </a:r>
            <a:endParaRPr b="0" lang="en-US" sz="3200" strike="noStrike" u="non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Aptos"/>
              </a:rPr>
              <a:t>Click to edit Master text styles</a:t>
            </a:r>
            <a:endParaRPr b="0" lang="en-US" sz="1600" strike="noStrike" u="non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trike="noStrike" u="none">
                <a:solidFill>
                  <a:schemeClr val="dk1">
                    <a:tint val="82000"/>
                  </a:schemeClr>
                </a:solidFill>
                <a:effectLst/>
                <a:uFillTx/>
                <a:latin typeface="Aptos"/>
              </a:defRPr>
            </a:lvl1pPr>
          </a:lstStyle>
          <a:p>
            <a:pPr indent="0" defTabSz="914400">
              <a:lnSpc>
                <a:spcPct val="100000"/>
              </a:lnSpc>
              <a:buNone/>
            </a:pPr>
            <a:r>
              <a:rPr b="0" lang="en-GB" sz="1200" strike="noStrike" u="none">
                <a:solidFill>
                  <a:schemeClr val="dk1">
                    <a:tint val="82000"/>
                  </a:schemeClr>
                </a:solidFill>
                <a:effectLst/>
                <a:uFillTx/>
                <a:latin typeface="Aptos"/>
              </a:rPr>
              <a:t>&lt;date/time&gt;</a:t>
            </a:r>
            <a:endParaRPr b="0" lang="en-GB" sz="1200" strike="noStrike" u="non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000000"/>
                </a:solidFill>
                <a:effectLst/>
                <a:uFillTx/>
                <a:latin typeface="Times New Roman"/>
              </a:defRPr>
            </a:lvl1pPr>
          </a:lstStyle>
          <a:p>
            <a:pPr indent="0" algn="ctr">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trike="noStrike" u="none">
                <a:solidFill>
                  <a:schemeClr val="dk1">
                    <a:tint val="82000"/>
                  </a:schemeClr>
                </a:solidFill>
                <a:effectLst/>
                <a:uFillTx/>
                <a:latin typeface="Aptos"/>
              </a:defRPr>
            </a:lvl1pPr>
          </a:lstStyle>
          <a:p>
            <a:pPr indent="0" algn="r" defTabSz="914400">
              <a:lnSpc>
                <a:spcPct val="100000"/>
              </a:lnSpc>
              <a:buNone/>
            </a:pPr>
            <a:fld id="{7B253604-33F0-40B0-8C6E-7D8FC07A859D}" type="slidenum">
              <a:rPr b="0" lang="en-GB" sz="1200" strike="noStrike" u="none">
                <a:solidFill>
                  <a:schemeClr val="dk1">
                    <a:tint val="82000"/>
                  </a:schemeClr>
                </a:solidFill>
                <a:effectLst/>
                <a:uFillTx/>
                <a:latin typeface="Aptos"/>
              </a:rPr>
              <a:t>&lt;number&gt;</a:t>
            </a:fld>
            <a:endParaRPr b="0" lang="en-GB"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rmAutofit fontScale="77500" lnSpcReduction="19999"/>
          </a:bodyPr>
          <a:p>
            <a:pPr indent="0" algn="ctr" defTabSz="914400">
              <a:lnSpc>
                <a:spcPct val="90000"/>
              </a:lnSpc>
              <a:buNone/>
            </a:pPr>
            <a:r>
              <a:rPr b="1" lang="fr-FR" sz="6000" strike="noStrike" u="none">
                <a:solidFill>
                  <a:schemeClr val="dk1"/>
                </a:solidFill>
                <a:effectLst/>
                <a:uFillTx/>
                <a:latin typeface="Aptos Display"/>
              </a:rPr>
              <a:t>Toxi-infections alimentaires à </a:t>
            </a:r>
            <a:r>
              <a:rPr b="1" i="1" lang="fr-FR" sz="6000" strike="noStrike" u="none">
                <a:solidFill>
                  <a:schemeClr val="dk1"/>
                </a:solidFill>
                <a:effectLst/>
                <a:uFillTx/>
                <a:latin typeface="Aptos Display"/>
              </a:rPr>
              <a:t>Vibrio cholerae</a:t>
            </a:r>
            <a:br>
              <a:rPr sz="6000"/>
            </a:br>
            <a:endParaRPr b="0" lang="en-US" sz="6000" strike="noStrike" u="none">
              <a:solidFill>
                <a:schemeClr val="dk1"/>
              </a:solidFill>
              <a:effectLst/>
              <a:uFillTx/>
              <a:latin typeface="Aptos"/>
            </a:endParaRPr>
          </a:p>
        </p:txBody>
      </p:sp>
      <p:sp>
        <p:nvSpPr>
          <p:cNvPr id="67"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rmAutofit fontScale="85000" lnSpcReduction="19999"/>
          </a:bodyPr>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Présenté par :</a:t>
            </a: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TALBI Maram Nour El Yakine</a:t>
            </a:r>
            <a:endParaRPr b="0" lang="en-GB" sz="2400" strike="noStrike" u="none">
              <a:solidFill>
                <a:srgbClr val="000000"/>
              </a:solidFill>
              <a:effectLst/>
              <a:uFillTx/>
              <a:latin typeface="Arial"/>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DORBANE Dounia</a:t>
            </a:r>
            <a:endParaRPr b="0" lang="en-GB" sz="2400" strike="noStrike" u="none">
              <a:solidFill>
                <a:srgbClr val="000000"/>
              </a:solidFill>
              <a:effectLst/>
              <a:uFillTx/>
              <a:latin typeface="Arial"/>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REDJAH Nihel</a:t>
            </a:r>
            <a:endParaRPr b="0" lang="en-GB" sz="2400" strike="noStrike" u="none">
              <a:solidFill>
                <a:srgbClr val="000000"/>
              </a:solidFill>
              <a:effectLst/>
              <a:uFillTx/>
              <a:latin typeface="Arial"/>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HEDJAZ Nouzha</a:t>
            </a:r>
            <a:endParaRPr b="0" lang="en-GB" sz="2400" strike="noStrike" u="none">
              <a:solidFill>
                <a:srgbClr val="000000"/>
              </a:solidFill>
              <a:effectLst/>
              <a:uFillTx/>
              <a:latin typeface="Arial"/>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	</a:t>
            </a:r>
            <a:r>
              <a:rPr b="0" lang="fr-FR" sz="2400" strike="noStrike" u="none">
                <a:solidFill>
                  <a:schemeClr val="dk1"/>
                </a:solidFill>
                <a:effectLst/>
                <a:uFillTx/>
                <a:latin typeface="Times New Roman"/>
              </a:rPr>
              <a:t>BOUKERATE Samira</a:t>
            </a:r>
            <a:endParaRPr b="0" lang="en-GB"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defTabSz="914400">
              <a:lnSpc>
                <a:spcPct val="90000"/>
              </a:lnSpc>
              <a:buNone/>
            </a:pPr>
            <a:r>
              <a:rPr b="1" lang="fr-FR" sz="3200" strike="noStrike" u="none">
                <a:solidFill>
                  <a:schemeClr val="dk1"/>
                </a:solidFill>
                <a:effectLst/>
                <a:uFillTx/>
                <a:latin typeface="Times New Roman"/>
              </a:rPr>
              <a:t>1. Importance</a:t>
            </a:r>
            <a:endParaRPr b="0" lang="en-US" sz="3200" strike="noStrike" u="none">
              <a:solidFill>
                <a:schemeClr val="dk1"/>
              </a:solidFill>
              <a:effectLst/>
              <a:uFillTx/>
              <a:latin typeface="Aptos"/>
            </a:endParaRPr>
          </a:p>
        </p:txBody>
      </p:sp>
      <p:sp>
        <p:nvSpPr>
          <p:cNvPr id="69" name="PlaceHolder 2"/>
          <p:cNvSpPr>
            <a:spLocks noGrp="1"/>
          </p:cNvSpPr>
          <p:nvPr>
            <p:ph/>
          </p:nvPr>
        </p:nvSpPr>
        <p:spPr>
          <a:xfrm>
            <a:off x="198000" y="2057400"/>
            <a:ext cx="4573440" cy="480024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endParaRPr b="0" lang="en-US" sz="1600" strike="noStrike" u="none">
              <a:solidFill>
                <a:schemeClr val="dk1"/>
              </a:solidFill>
              <a:effectLst/>
              <a:uFillTx/>
              <a:latin typeface="Aptos"/>
            </a:endParaRPr>
          </a:p>
          <a:p>
            <a:pPr indent="0" defTabSz="914400">
              <a:lnSpc>
                <a:spcPct val="90000"/>
              </a:lnSpc>
              <a:spcBef>
                <a:spcPts val="1001"/>
              </a:spcBef>
              <a:buNone/>
              <a:tabLst>
                <a:tab algn="l" pos="0"/>
              </a:tabLst>
            </a:pPr>
            <a:r>
              <a:rPr b="0" i="1" lang="fr-FR" sz="2000" strike="noStrike" u="none">
                <a:solidFill>
                  <a:schemeClr val="dk1"/>
                </a:solidFill>
                <a:effectLst/>
                <a:uFillTx/>
                <a:latin typeface="Times New Roman"/>
                <a:ea typeface="Calibri"/>
              </a:rPr>
              <a:t>Vibrio cholerae </a:t>
            </a:r>
            <a:r>
              <a:rPr b="0" lang="fr-FR" sz="2000" strike="noStrike" u="none">
                <a:solidFill>
                  <a:schemeClr val="dk1"/>
                </a:solidFill>
                <a:effectLst/>
                <a:uFillTx/>
                <a:latin typeface="Times New Roman"/>
                <a:ea typeface="Calibri"/>
              </a:rPr>
              <a:t>appartient au genre </a:t>
            </a:r>
            <a:r>
              <a:rPr b="0" i="1" lang="fr-FR" sz="2000" strike="noStrike" u="none">
                <a:solidFill>
                  <a:schemeClr val="dk1"/>
                </a:solidFill>
                <a:effectLst/>
                <a:uFillTx/>
                <a:latin typeface="Times New Roman"/>
                <a:ea typeface="Calibri"/>
              </a:rPr>
              <a:t>Vibrio </a:t>
            </a:r>
            <a:r>
              <a:rPr b="0" lang="fr-FR" sz="2000" strike="noStrike" u="none">
                <a:solidFill>
                  <a:schemeClr val="dk1"/>
                </a:solidFill>
                <a:effectLst/>
                <a:uFillTx/>
                <a:latin typeface="Times New Roman"/>
                <a:ea typeface="Calibri"/>
              </a:rPr>
              <a:t>et à la famille des </a:t>
            </a:r>
            <a:r>
              <a:rPr b="0" i="1" lang="fr-FR" sz="2000" strike="noStrike" u="none">
                <a:solidFill>
                  <a:schemeClr val="dk1"/>
                </a:solidFill>
                <a:effectLst/>
                <a:uFillTx/>
                <a:latin typeface="Times New Roman"/>
                <a:ea typeface="Calibri"/>
              </a:rPr>
              <a:t>Vibrionaceae. </a:t>
            </a:r>
            <a:r>
              <a:rPr b="0" lang="fr-FR" sz="2000" strike="noStrike" u="none">
                <a:solidFill>
                  <a:schemeClr val="dk1"/>
                </a:solidFill>
                <a:effectLst/>
                <a:uFillTx/>
                <a:latin typeface="Times New Roman"/>
                <a:ea typeface="Calibri"/>
              </a:rPr>
              <a:t>C’est l’agent responsable du choléra, une maladie diarrhéique aiguë grave, le choléra est une toxi-infection intestinale, hydrique et alimentaire majeure, strictement humaine, hautement contagieuse, associé à une mortalité élevée si le traitement n’est pas instauré rapidement </a:t>
            </a:r>
            <a:endParaRPr b="0" lang="en-US" sz="2000" strike="noStrike" u="none">
              <a:solidFill>
                <a:schemeClr val="dk1"/>
              </a:solidFill>
              <a:effectLst/>
              <a:uFillTx/>
              <a:latin typeface="Aptos"/>
            </a:endParaRPr>
          </a:p>
        </p:txBody>
      </p:sp>
      <p:pic>
        <p:nvPicPr>
          <p:cNvPr id="70" name="Image 2" descr=""/>
          <p:cNvPicPr/>
          <p:nvPr/>
        </p:nvPicPr>
        <p:blipFill>
          <a:blip r:embed="rId1"/>
          <a:srcRect l="0" t="20234" r="0" b="20234"/>
          <a:stretch/>
        </p:blipFill>
        <p:spPr>
          <a:xfrm>
            <a:off x="5183280" y="987480"/>
            <a:ext cx="6171840" cy="4873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1" lang="fr-FR" sz="3200" strike="noStrike" u="none">
                <a:solidFill>
                  <a:schemeClr val="dk1"/>
                </a:solidFill>
                <a:effectLst/>
                <a:uFillTx/>
                <a:latin typeface="Times New Roman"/>
              </a:rPr>
              <a:t>2. Caractéristiques</a:t>
            </a:r>
            <a:endParaRPr b="0" lang="en-US" sz="3200" strike="noStrike" u="none">
              <a:solidFill>
                <a:schemeClr val="dk1"/>
              </a:solidFill>
              <a:effectLst/>
              <a:uFillTx/>
              <a:latin typeface="Aptos"/>
            </a:endParaRPr>
          </a:p>
        </p:txBody>
      </p:sp>
      <p:sp>
        <p:nvSpPr>
          <p:cNvPr id="72" name="PlaceHolder 2"/>
          <p:cNvSpPr>
            <a:spLocks noGrp="1"/>
          </p:cNvSpPr>
          <p:nvPr>
            <p:ph/>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i="1" lang="fr-FR" sz="2000" strike="noStrike" u="none">
                <a:solidFill>
                  <a:schemeClr val="dk1"/>
                </a:solidFill>
                <a:effectLst/>
                <a:uFillTx/>
                <a:latin typeface="Times New Roman"/>
              </a:rPr>
              <a:t>Vibrio cholerae </a:t>
            </a:r>
            <a:r>
              <a:rPr b="0" lang="fr-FR" sz="2000" strike="noStrike" u="none">
                <a:solidFill>
                  <a:schemeClr val="dk1"/>
                </a:solidFill>
                <a:effectLst/>
                <a:uFillTx/>
                <a:latin typeface="Times New Roman"/>
              </a:rPr>
              <a:t>est un bacille à Gram négatif incurvé en virgule  de 1,5 à 2 </a:t>
            </a:r>
            <a:r>
              <a:rPr b="0" lang="en-GB" sz="2000" strike="noStrike" u="none">
                <a:solidFill>
                  <a:schemeClr val="dk1"/>
                </a:solidFill>
                <a:effectLst/>
                <a:uFillTx/>
                <a:latin typeface="Times New Roman"/>
              </a:rPr>
              <a:t>μm</a:t>
            </a:r>
            <a:r>
              <a:rPr b="0" lang="fr-FR" sz="2000" strike="noStrike" u="none">
                <a:solidFill>
                  <a:schemeClr val="dk1"/>
                </a:solidFill>
                <a:effectLst/>
                <a:uFillTx/>
                <a:latin typeface="Times New Roman"/>
              </a:rPr>
              <a:t> de longueur et de 0,5 à 0,6 </a:t>
            </a:r>
            <a:r>
              <a:rPr b="0" lang="en-GB" sz="2000" strike="noStrike" u="none">
                <a:solidFill>
                  <a:schemeClr val="dk1"/>
                </a:solidFill>
                <a:effectLst/>
                <a:uFillTx/>
                <a:latin typeface="Times New Roman"/>
              </a:rPr>
              <a:t>μm</a:t>
            </a:r>
            <a:r>
              <a:rPr b="0" lang="fr-FR" sz="2000" strike="noStrike" u="none">
                <a:solidFill>
                  <a:schemeClr val="dk1"/>
                </a:solidFill>
                <a:effectLst/>
                <a:uFillTx/>
                <a:latin typeface="Times New Roman"/>
              </a:rPr>
              <a:t> de diamètre, asporulé, acapsulée et à la surface de la bactérie le glycocalix a été observé. Ils sont mobiles par un flagelle polaire unique. </a:t>
            </a:r>
            <a:r>
              <a:rPr b="0" i="1" lang="fr-FR" sz="2000" strike="noStrike" u="none">
                <a:solidFill>
                  <a:schemeClr val="dk1"/>
                </a:solidFill>
                <a:effectLst/>
                <a:uFillTx/>
                <a:latin typeface="Times New Roman"/>
              </a:rPr>
              <a:t>V. cholerae </a:t>
            </a:r>
            <a:r>
              <a:rPr b="0" lang="fr-FR" sz="2000" strike="noStrike" u="none">
                <a:solidFill>
                  <a:schemeClr val="dk1"/>
                </a:solidFill>
                <a:effectLst/>
                <a:uFillTx/>
                <a:latin typeface="Times New Roman"/>
              </a:rPr>
              <a:t>est une bactérie d’oxydase positive, anaérobie facultative avec une forte préférence pour les milieux aérobies, alors l’accepteur finale des électrons est l’oxygène.</a:t>
            </a:r>
            <a:endParaRPr b="0" lang="en-US" sz="20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1600" strike="noStrike" u="none">
              <a:solidFill>
                <a:schemeClr val="dk1"/>
              </a:solidFill>
              <a:effectLst/>
              <a:uFillTx/>
              <a:latin typeface="Aptos"/>
            </a:endParaRPr>
          </a:p>
        </p:txBody>
      </p:sp>
      <p:pic>
        <p:nvPicPr>
          <p:cNvPr id="73" name="Image 1" descr=""/>
          <p:cNvPicPr/>
          <p:nvPr/>
        </p:nvPicPr>
        <p:blipFill>
          <a:blip r:embed="rId1"/>
          <a:srcRect l="6837" t="0" r="6837" b="0"/>
          <a:stretch/>
        </p:blipFill>
        <p:spPr>
          <a:xfrm>
            <a:off x="5183280" y="987480"/>
            <a:ext cx="6171840" cy="487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1" lang="fr-FR" sz="4400" strike="noStrike" u="none">
                <a:solidFill>
                  <a:schemeClr val="dk1"/>
                </a:solidFill>
                <a:effectLst/>
                <a:uFillTx/>
                <a:latin typeface="Times New Roman"/>
              </a:rPr>
              <a:t>Toxines et production du toxines</a:t>
            </a:r>
            <a:br>
              <a:rPr sz="4400"/>
            </a:br>
            <a:endParaRPr b="0" lang="en-US" sz="4400" strike="noStrike" u="none">
              <a:solidFill>
                <a:schemeClr val="dk1"/>
              </a:solidFill>
              <a:effectLst/>
              <a:uFillTx/>
              <a:latin typeface="Aptos"/>
            </a:endParaRPr>
          </a:p>
        </p:txBody>
      </p:sp>
      <p:sp>
        <p:nvSpPr>
          <p:cNvPr id="7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fontScale="92500" lnSpcReduction="9999"/>
          </a:bodyPr>
          <a:p>
            <a:pPr indent="0" defTabSz="914400">
              <a:lnSpc>
                <a:spcPct val="90000"/>
              </a:lnSpc>
              <a:spcBef>
                <a:spcPts val="1001"/>
              </a:spcBef>
              <a:buNone/>
              <a:tabLst>
                <a:tab algn="l" pos="0"/>
              </a:tabLst>
            </a:pPr>
            <a:r>
              <a:rPr b="0" lang="fr-FR" sz="2200" strike="noStrike" u="none">
                <a:solidFill>
                  <a:schemeClr val="dk1"/>
                </a:solidFill>
                <a:effectLst/>
                <a:uFillTx/>
                <a:latin typeface="Times New Roman"/>
              </a:rPr>
              <a:t>L’infection par </a:t>
            </a:r>
            <a:r>
              <a:rPr b="0" i="1" lang="fr-FR" sz="2200" strike="noStrike" u="none">
                <a:solidFill>
                  <a:schemeClr val="dk1"/>
                </a:solidFill>
                <a:effectLst/>
                <a:uFillTx/>
                <a:latin typeface="Times New Roman"/>
              </a:rPr>
              <a:t>Vibrio cholerae </a:t>
            </a:r>
            <a:r>
              <a:rPr b="0" lang="fr-FR" sz="2200" strike="noStrike" u="none">
                <a:solidFill>
                  <a:schemeClr val="dk1"/>
                </a:solidFill>
                <a:effectLst/>
                <a:uFillTx/>
                <a:latin typeface="Times New Roman"/>
              </a:rPr>
              <a:t>commence lorsque la bactérie est ingérée par voie orale à travers de l’eau ou des aliments contaminés. Une fois dans l’organisme, la bactérie doit survivre à l’acidité de l’estomac pour atteindre l’intestin grêle, où elle se multiplie et provoque la maladie.</a:t>
            </a:r>
            <a:endParaRPr b="0" lang="en-US" sz="2200" strike="noStrike" u="none">
              <a:solidFill>
                <a:schemeClr val="dk1"/>
              </a:solidFill>
              <a:effectLst/>
              <a:uFillTx/>
              <a:latin typeface="Aptos"/>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1-Colonisation intestinale : Après avoir franchi la barrière gastrique, </a:t>
            </a:r>
            <a:r>
              <a:rPr b="0" i="1" lang="fr-FR" sz="2400" strike="noStrike" u="none">
                <a:solidFill>
                  <a:schemeClr val="dk1"/>
                </a:solidFill>
                <a:effectLst/>
                <a:uFillTx/>
                <a:latin typeface="Times New Roman"/>
              </a:rPr>
              <a:t>V. cholerae </a:t>
            </a:r>
            <a:r>
              <a:rPr b="0" lang="fr-FR" sz="2400" strike="noStrike" u="none">
                <a:solidFill>
                  <a:schemeClr val="dk1"/>
                </a:solidFill>
                <a:effectLst/>
                <a:uFillTx/>
                <a:latin typeface="Times New Roman"/>
              </a:rPr>
              <a:t>s’attache à la muqueuse de l’intestin grêle grâce à des structures appelées pili. Cette adhérence empêche la bactérie d’être éliminée par le péristaltisme intestinale et lui permet de former une colonie stable sur la surface épithéliale.</a:t>
            </a:r>
            <a:endParaRPr b="0" lang="en-US" sz="2400" strike="noStrike" u="none">
              <a:solidFill>
                <a:schemeClr val="dk1"/>
              </a:solidFill>
              <a:effectLst/>
              <a:uFillTx/>
              <a:latin typeface="Aptos"/>
            </a:endParaRPr>
          </a:p>
          <a:p>
            <a:pPr indent="0" defTabSz="914400">
              <a:lnSpc>
                <a:spcPct val="90000"/>
              </a:lnSpc>
              <a:spcBef>
                <a:spcPts val="1001"/>
              </a:spcBef>
              <a:buNone/>
              <a:tabLst>
                <a:tab algn="l" pos="0"/>
              </a:tabLst>
            </a:pPr>
            <a:r>
              <a:rPr b="0" lang="fr-FR" sz="2400" strike="noStrike" u="none">
                <a:solidFill>
                  <a:schemeClr val="dk1"/>
                </a:solidFill>
                <a:effectLst/>
                <a:uFillTx/>
                <a:latin typeface="Times New Roman"/>
              </a:rPr>
              <a:t>2-Production de la toxine cholérique : Les souches pathogènes de </a:t>
            </a:r>
            <a:r>
              <a:rPr b="0" i="1" lang="fr-FR" sz="2400" strike="noStrike" u="none">
                <a:solidFill>
                  <a:schemeClr val="dk1"/>
                </a:solidFill>
                <a:effectLst/>
                <a:uFillTx/>
                <a:latin typeface="Times New Roman"/>
              </a:rPr>
              <a:t>V. cholerae </a:t>
            </a:r>
            <a:r>
              <a:rPr b="0" lang="fr-FR" sz="2400" strike="noStrike" u="none">
                <a:solidFill>
                  <a:schemeClr val="dk1"/>
                </a:solidFill>
                <a:effectLst/>
                <a:uFillTx/>
                <a:latin typeface="Times New Roman"/>
              </a:rPr>
              <a:t>possèdent un bactériophage lysogénique qui transporte le gène codant la toxine cholérique (CT). Cette toxine est la principale responsable des symptômes cliniques de la maladie. La toxine cholérique est composée de : une sous-unité A (active), et cinq sous-unités B (de liaison). Les sous-unités B se fixent à un récepteur spécifique (GM1 ganglioside) situé sur la membrane des cellules épithéliales intestinales. Cela permet à la sous-unité A de pénétrer à l’intérieur de la cellule.</a:t>
            </a:r>
            <a:endParaRPr b="0" lang="en-US" sz="2400" strike="noStrike" u="none">
              <a:solidFill>
                <a:schemeClr val="dk1"/>
              </a:solidFill>
              <a:effectLst/>
              <a:uFillTx/>
              <a:latin typeface="Aptos"/>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LibreOffice/25.8.3.2$Windows_X86_64 LibreOffice_project/8ca8d55c161d602844f5428fa4b58097424e324e</Application>
  <AppVersion>15.0000</AppVersion>
  <Words>377</Words>
  <Paragraphs>16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2025-12-18T12:03:48Z</dcterms:created>
  <dc:creator>ahmed neymar</dc:creator>
  <dc:description/>
  <dc:language>en-GB</dc:language>
  <cp:lastModifiedBy>ahmed neymar</cp:lastModifiedBy>
  <dcterms:modified xsi:type="dcterms:W3CDTF">2025-12-18T12:10:23Z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4</vt:i4>
  </property>
</Properties>
</file>